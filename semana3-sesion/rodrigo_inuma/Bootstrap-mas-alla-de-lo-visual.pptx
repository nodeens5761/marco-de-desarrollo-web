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notesMasterIdLst>
    <p:notesMasterId r:id="rId11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notesMaster" Target="notesMasters/notesMaster1.xml"/><Relationship Id="rId12" Type="http://schemas.openxmlformats.org/officeDocument/2006/relationships/presProps" Target="presProps.xml"/><Relationship Id="rId13" Type="http://schemas.openxmlformats.org/officeDocument/2006/relationships/viewProps" Target="viewProps.xml"/><Relationship Id="rId14" Type="http://schemas.openxmlformats.org/officeDocument/2006/relationships/theme" Target="theme/theme1.xml"/><Relationship Id="rId15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image" Target="../media/image-5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image" Target="../media/image-8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2D1B4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2D1B4E"/>
          </a:solidFill>
          <a:ln/>
        </p:spPr>
      </p:sp>
      <p:sp>
        <p:nvSpPr>
          <p:cNvPr id="3" name="Shape 1"/>
          <p:cNvSpPr/>
          <p:nvPr/>
        </p:nvSpPr>
        <p:spPr>
          <a:xfrm>
            <a:off x="9875520" y="-1371600"/>
            <a:ext cx="4572000" cy="4572000"/>
          </a:xfrm>
          <a:prstGeom prst="ellipse">
            <a:avLst/>
          </a:prstGeom>
          <a:solidFill>
            <a:srgbClr val="7952B3">
              <a:alpha val="22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-1371600" y="4572000"/>
            <a:ext cx="3657600" cy="3657600"/>
          </a:xfrm>
          <a:prstGeom prst="ellipse">
            <a:avLst/>
          </a:prstGeom>
          <a:solidFill>
            <a:srgbClr val="FFB627">
              <a:alpha val="12000"/>
            </a:srgbClr>
          </a:solidFill>
          <a:ln/>
        </p:spPr>
      </p:sp>
      <p:pic>
        <p:nvPicPr>
          <p:cNvPr id="5" name="Image 0" descr="/home/claude/pptx/icon_layers_amber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40080" y="640080"/>
            <a:ext cx="548640" cy="548640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1280160" y="621792"/>
            <a:ext cx="4572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300" kern="0" dirty="0">
                <a:solidFill>
                  <a:srgbClr val="FFB6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INFORME TÉCNICO</a:t>
            </a:r>
            <a:endParaRPr lang="en-US" sz="1400" dirty="0"/>
          </a:p>
        </p:txBody>
      </p:sp>
      <p:sp>
        <p:nvSpPr>
          <p:cNvPr id="7" name="Text 4"/>
          <p:cNvSpPr txBox="1"/>
          <p:nvPr/>
        </p:nvSpPr>
        <p:spPr>
          <a:xfrm>
            <a:off x="640080" y="2286000"/>
            <a:ext cx="960120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Bootstrap más allá de lo visual</a:t>
            </a:r>
            <a:endParaRPr lang="en-US" sz="4600" dirty="0"/>
          </a:p>
        </p:txBody>
      </p:sp>
      <p:sp>
        <p:nvSpPr>
          <p:cNvPr id="8" name="Text 5"/>
          <p:cNvSpPr txBox="1"/>
          <p:nvPr/>
        </p:nvSpPr>
        <p:spPr>
          <a:xfrm>
            <a:off x="640080" y="3794760"/>
            <a:ext cx="8229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D9D3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Funcionalidades estructurales e interactivas: rejilla lógica, control del entorno responsivo, motor de interactividad y accesibilidad computacional.</a:t>
            </a:r>
            <a:endParaRPr lang="en-US" sz="1600" dirty="0"/>
          </a:p>
        </p:txBody>
      </p:sp>
      <p:sp>
        <p:nvSpPr>
          <p:cNvPr id="9" name="Shape 6"/>
          <p:cNvSpPr/>
          <p:nvPr/>
        </p:nvSpPr>
        <p:spPr>
          <a:xfrm>
            <a:off x="658368" y="4892040"/>
            <a:ext cx="2011680" cy="0"/>
          </a:xfrm>
          <a:prstGeom prst="line">
            <a:avLst/>
          </a:prstGeom>
          <a:noFill/>
          <a:ln w="25400">
            <a:solidFill>
              <a:srgbClr val="FFB627"/>
            </a:solidFill>
            <a:prstDash val="solid"/>
          </a:ln>
        </p:spPr>
      </p:sp>
      <p:sp>
        <p:nvSpPr>
          <p:cNvPr id="10" name="Text 7"/>
          <p:cNvSpPr txBox="1"/>
          <p:nvPr/>
        </p:nvSpPr>
        <p:spPr>
          <a:xfrm>
            <a:off x="640080" y="502920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9F94B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 la biblioteca de estilos a la infraestructura lógica del cliente</a:t>
            </a:r>
            <a:endParaRPr lang="en-US" sz="13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7F5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6576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7952B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INTRODUCCIÓN</a:t>
            </a:r>
            <a:endParaRPr lang="en-US" sz="13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58368"/>
            <a:ext cx="10515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2415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No es solo una hoja de estilos</a:t>
            </a:r>
            <a:endParaRPr lang="en-US" sz="30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691640"/>
            <a:ext cx="6309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600" dirty="0">
                <a:solidFill>
                  <a:srgbClr val="2415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Bootstrap es ampliamente conocido por su biblioteca de estilos visuales. Sin embargo, su verdadero valor en el desarrollo de software radica en su infraestructura lógica.</a:t>
            </a:r>
            <a:endParaRPr lang="en-US" sz="16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3383280"/>
            <a:ext cx="6309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7952B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Tres capas invisibles sostienen esa infraestructura: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548640" y="3895344"/>
            <a:ext cx="54864" cy="502920"/>
          </a:xfrm>
          <a:prstGeom prst="rect">
            <a:avLst/>
          </a:prstGeom>
          <a:solidFill>
            <a:srgbClr val="FFB627"/>
          </a:solidFill>
          <a:ln/>
        </p:spPr>
      </p:sp>
      <p:sp>
        <p:nvSpPr>
          <p:cNvPr id="7" name="Text 5"/>
          <p:cNvSpPr txBox="1"/>
          <p:nvPr/>
        </p:nvSpPr>
        <p:spPr>
          <a:xfrm>
            <a:off x="777240" y="3840480"/>
            <a:ext cx="58521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415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Diseño adaptativo</a:t>
            </a:r>
            <a:endParaRPr lang="en-US" sz="1400" dirty="0"/>
          </a:p>
        </p:txBody>
      </p:sp>
      <p:sp>
        <p:nvSpPr>
          <p:cNvPr id="8" name="Text 6"/>
          <p:cNvSpPr txBox="1"/>
          <p:nvPr/>
        </p:nvSpPr>
        <p:spPr>
          <a:xfrm>
            <a:off x="777240" y="4133088"/>
            <a:ext cx="5852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6B6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Gestión matemática del espacio en pantalla.</a:t>
            </a:r>
            <a:endParaRPr lang="en-US" sz="1250" dirty="0"/>
          </a:p>
        </p:txBody>
      </p:sp>
      <p:sp>
        <p:nvSpPr>
          <p:cNvPr id="9" name="Shape 7"/>
          <p:cNvSpPr/>
          <p:nvPr/>
        </p:nvSpPr>
        <p:spPr>
          <a:xfrm>
            <a:off x="548640" y="4608576"/>
            <a:ext cx="54864" cy="502920"/>
          </a:xfrm>
          <a:prstGeom prst="rect">
            <a:avLst/>
          </a:prstGeom>
          <a:solidFill>
            <a:srgbClr val="FFB627"/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777240" y="4553712"/>
            <a:ext cx="58521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415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Componentes interactivos</a:t>
            </a:r>
            <a:endParaRPr lang="en-US" sz="1400" dirty="0"/>
          </a:p>
        </p:txBody>
      </p:sp>
      <p:sp>
        <p:nvSpPr>
          <p:cNvPr id="11" name="Text 9"/>
          <p:cNvSpPr txBox="1"/>
          <p:nvPr/>
        </p:nvSpPr>
        <p:spPr>
          <a:xfrm>
            <a:off x="777240" y="4846320"/>
            <a:ext cx="5852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6B6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Arquitectura de estados en la interfaz.</a:t>
            </a:r>
            <a:endParaRPr lang="en-US" sz="1250" dirty="0"/>
          </a:p>
        </p:txBody>
      </p:sp>
      <p:sp>
        <p:nvSpPr>
          <p:cNvPr id="12" name="Shape 10"/>
          <p:cNvSpPr/>
          <p:nvPr/>
        </p:nvSpPr>
        <p:spPr>
          <a:xfrm>
            <a:off x="548640" y="5321808"/>
            <a:ext cx="54864" cy="502920"/>
          </a:xfrm>
          <a:prstGeom prst="rect">
            <a:avLst/>
          </a:prstGeom>
          <a:solidFill>
            <a:srgbClr val="FFB627"/>
          </a:solidFill>
          <a:ln/>
        </p:spPr>
      </p:sp>
      <p:sp>
        <p:nvSpPr>
          <p:cNvPr id="13" name="Text 11"/>
          <p:cNvSpPr txBox="1"/>
          <p:nvPr/>
        </p:nvSpPr>
        <p:spPr>
          <a:xfrm>
            <a:off x="777240" y="5266944"/>
            <a:ext cx="58521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415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Estandarización del cliente</a:t>
            </a:r>
            <a:endParaRPr lang="en-US" sz="1400" dirty="0"/>
          </a:p>
        </p:txBody>
      </p:sp>
      <p:sp>
        <p:nvSpPr>
          <p:cNvPr id="14" name="Text 12"/>
          <p:cNvSpPr txBox="1"/>
          <p:nvPr/>
        </p:nvSpPr>
        <p:spPr>
          <a:xfrm>
            <a:off x="777240" y="5559552"/>
            <a:ext cx="5852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6B6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Comportamiento consistente en JS y accesibilidad.</a:t>
            </a:r>
            <a:endParaRPr lang="en-US" sz="1250" dirty="0"/>
          </a:p>
        </p:txBody>
      </p:sp>
      <p:sp>
        <p:nvSpPr>
          <p:cNvPr id="15" name="Shape 13"/>
          <p:cNvSpPr/>
          <p:nvPr/>
        </p:nvSpPr>
        <p:spPr>
          <a:xfrm>
            <a:off x="7223760" y="1691640"/>
            <a:ext cx="4389120" cy="4480560"/>
          </a:xfrm>
          <a:prstGeom prst="roundRect">
            <a:avLst>
              <a:gd name="adj" fmla="val 2500"/>
            </a:avLst>
          </a:prstGeom>
          <a:solidFill>
            <a:srgbClr val="2D1B4E"/>
          </a:solidFill>
          <a:ln/>
        </p:spPr>
      </p:sp>
      <p:pic>
        <p:nvPicPr>
          <p:cNvPr id="16" name="Image 0" descr="/home/claude/pptx/icon_eye_amber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589520" y="2011680"/>
            <a:ext cx="502920" cy="502920"/>
          </a:xfrm>
          <a:prstGeom prst="rect">
            <a:avLst/>
          </a:prstGeom>
        </p:spPr>
      </p:pic>
      <p:sp>
        <p:nvSpPr>
          <p:cNvPr id="17" name="Text 14"/>
          <p:cNvSpPr txBox="1"/>
          <p:nvPr/>
        </p:nvSpPr>
        <p:spPr>
          <a:xfrm>
            <a:off x="8229600" y="2029968"/>
            <a:ext cx="3200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Lo visible vs. lo invisible</a:t>
            </a:r>
            <a:endParaRPr lang="en-US" sz="1600" dirty="0"/>
          </a:p>
        </p:txBody>
      </p:sp>
      <p:sp>
        <p:nvSpPr>
          <p:cNvPr id="18" name="Text 15"/>
          <p:cNvSpPr txBox="1"/>
          <p:nvPr/>
        </p:nvSpPr>
        <p:spPr>
          <a:xfrm>
            <a:off x="7589520" y="2743200"/>
            <a:ext cx="3749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FFB6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VISIBLE</a:t>
            </a:r>
            <a:endParaRPr lang="en-US" sz="1100" dirty="0"/>
          </a:p>
        </p:txBody>
      </p:sp>
      <p:sp>
        <p:nvSpPr>
          <p:cNvPr id="19" name="Text 16"/>
          <p:cNvSpPr txBox="1"/>
          <p:nvPr/>
        </p:nvSpPr>
        <p:spPr>
          <a:xfrm>
            <a:off x="7589520" y="3035808"/>
            <a:ext cx="3749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D9D3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Colores, tipografía, botones, tarjetas.</a:t>
            </a:r>
            <a:endParaRPr lang="en-US" sz="1250" dirty="0"/>
          </a:p>
        </p:txBody>
      </p:sp>
      <p:sp>
        <p:nvSpPr>
          <p:cNvPr id="20" name="Shape 17"/>
          <p:cNvSpPr/>
          <p:nvPr/>
        </p:nvSpPr>
        <p:spPr>
          <a:xfrm>
            <a:off x="7589520" y="3657600"/>
            <a:ext cx="3749040" cy="0"/>
          </a:xfrm>
          <a:prstGeom prst="line">
            <a:avLst/>
          </a:prstGeom>
          <a:noFill/>
          <a:ln w="12700">
            <a:solidFill>
              <a:srgbClr val="7952B3"/>
            </a:solidFill>
            <a:prstDash val="solid"/>
          </a:ln>
        </p:spPr>
      </p:sp>
      <p:sp>
        <p:nvSpPr>
          <p:cNvPr id="21" name="Text 18"/>
          <p:cNvSpPr txBox="1"/>
          <p:nvPr/>
        </p:nvSpPr>
        <p:spPr>
          <a:xfrm>
            <a:off x="7589520" y="3840480"/>
            <a:ext cx="3749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FFB6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INVISIBLE (el núcleo real)</a:t>
            </a:r>
            <a:endParaRPr lang="en-US" sz="1100" dirty="0"/>
          </a:p>
        </p:txBody>
      </p:sp>
      <p:sp>
        <p:nvSpPr>
          <p:cNvPr id="22" name="Text 19"/>
          <p:cNvSpPr txBox="1"/>
          <p:nvPr/>
        </p:nvSpPr>
        <p:spPr>
          <a:xfrm>
            <a:off x="7589520" y="4133088"/>
            <a:ext cx="374904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D9D3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Grid lógico, breakpoints, gestión de estado JS, ARIA, Sass utility API, CSS variables.</a:t>
            </a:r>
            <a:endParaRPr lang="en-US" sz="1250" dirty="0"/>
          </a:p>
        </p:txBody>
      </p:sp>
      <p:sp>
        <p:nvSpPr>
          <p:cNvPr id="23" name="Text 20"/>
          <p:cNvSpPr txBox="1"/>
          <p:nvPr/>
        </p:nvSpPr>
        <p:spPr>
          <a:xfrm>
            <a:off x="11521440" y="644652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6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7F5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6576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7952B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PILAR A · DISTRIBUCIÓN LÓGICA</a:t>
            </a:r>
            <a:endParaRPr lang="en-US" sz="13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58368"/>
            <a:ext cx="10515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2415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Sistema de rejilla (Grid System)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737360"/>
            <a:ext cx="822960" cy="822960"/>
          </a:xfrm>
          <a:prstGeom prst="roundRect">
            <a:avLst>
              <a:gd name="adj" fmla="val 17778"/>
            </a:avLst>
          </a:prstGeom>
          <a:solidFill>
            <a:srgbClr val="7952B3"/>
          </a:solidFill>
          <a:ln/>
        </p:spPr>
      </p:sp>
      <p:pic>
        <p:nvPicPr>
          <p:cNvPr id="5" name="Image 0" descr="/home/claude/pptx/icon_grid_whit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49808" y="1938528"/>
            <a:ext cx="420624" cy="420624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1554480" y="1737360"/>
            <a:ext cx="4846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7952B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Mecánica</a:t>
            </a:r>
            <a:endParaRPr lang="en-US" sz="1300" dirty="0"/>
          </a:p>
        </p:txBody>
      </p:sp>
      <p:sp>
        <p:nvSpPr>
          <p:cNvPr id="7" name="Text 4"/>
          <p:cNvSpPr txBox="1"/>
          <p:nvPr/>
        </p:nvSpPr>
        <p:spPr>
          <a:xfrm>
            <a:off x="1554480" y="2029968"/>
            <a:ext cx="48463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400" dirty="0">
                <a:solidFill>
                  <a:srgbClr val="2415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Basado en Flexbox: divide la pantalla en 12 columnas imaginarias.</a:t>
            </a:r>
            <a:endParaRPr lang="en-US" sz="1400" dirty="0"/>
          </a:p>
        </p:txBody>
      </p:sp>
      <p:sp>
        <p:nvSpPr>
          <p:cNvPr id="8" name="Text 5"/>
          <p:cNvSpPr txBox="1"/>
          <p:nvPr/>
        </p:nvSpPr>
        <p:spPr>
          <a:xfrm>
            <a:off x="1554480" y="2697480"/>
            <a:ext cx="4846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7952B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Función</a:t>
            </a:r>
            <a:endParaRPr lang="en-US" sz="1300" dirty="0"/>
          </a:p>
        </p:txBody>
      </p:sp>
      <p:sp>
        <p:nvSpPr>
          <p:cNvPr id="9" name="Text 6"/>
          <p:cNvSpPr txBox="1"/>
          <p:nvPr/>
        </p:nvSpPr>
        <p:spPr>
          <a:xfrm>
            <a:off x="1554480" y="2990088"/>
            <a:ext cx="484632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400" dirty="0">
                <a:solidFill>
                  <a:srgbClr val="2415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Controla el orden numérico, la alineación y el desplazamiento (offset) de bloques de datos mediante clases lógicas, eliminando cálculo espacial en CSS puro.</a:t>
            </a:r>
            <a:endParaRPr lang="en-US" sz="1400" dirty="0"/>
          </a:p>
        </p:txBody>
      </p:sp>
      <p:sp>
        <p:nvSpPr>
          <p:cNvPr id="10" name="Shape 7"/>
          <p:cNvSpPr/>
          <p:nvPr/>
        </p:nvSpPr>
        <p:spPr>
          <a:xfrm>
            <a:off x="1554480" y="4434840"/>
            <a:ext cx="1042416" cy="365760"/>
          </a:xfrm>
          <a:prstGeom prst="roundRect">
            <a:avLst>
              <a:gd name="adj" fmla="val 50000"/>
            </a:avLst>
          </a:prstGeom>
          <a:solidFill>
            <a:srgbClr val="2D1B4E"/>
          </a:solidFill>
          <a:ln/>
        </p:spPr>
      </p:sp>
      <p:sp>
        <p:nvSpPr>
          <p:cNvPr id="11" name="Text 8"/>
          <p:cNvSpPr txBox="1"/>
          <p:nvPr/>
        </p:nvSpPr>
        <p:spPr>
          <a:xfrm>
            <a:off x="1554480" y="4434840"/>
            <a:ext cx="104241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B62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col-md-6</a:t>
            </a:r>
            <a:endParaRPr lang="en-US" sz="1100" dirty="0"/>
          </a:p>
        </p:txBody>
      </p:sp>
      <p:sp>
        <p:nvSpPr>
          <p:cNvPr id="12" name="Shape 9"/>
          <p:cNvSpPr/>
          <p:nvPr/>
        </p:nvSpPr>
        <p:spPr>
          <a:xfrm>
            <a:off x="2734056" y="4434840"/>
            <a:ext cx="1289304" cy="365760"/>
          </a:xfrm>
          <a:prstGeom prst="roundRect">
            <a:avLst>
              <a:gd name="adj" fmla="val 50000"/>
            </a:avLst>
          </a:prstGeom>
          <a:solidFill>
            <a:srgbClr val="2D1B4E"/>
          </a:solidFill>
          <a:ln/>
        </p:spPr>
      </p:sp>
      <p:sp>
        <p:nvSpPr>
          <p:cNvPr id="13" name="Text 10"/>
          <p:cNvSpPr txBox="1"/>
          <p:nvPr/>
        </p:nvSpPr>
        <p:spPr>
          <a:xfrm>
            <a:off x="2734056" y="4434840"/>
            <a:ext cx="128930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B62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order-first</a:t>
            </a:r>
            <a:endParaRPr lang="en-US" sz="1100" dirty="0"/>
          </a:p>
        </p:txBody>
      </p:sp>
      <p:sp>
        <p:nvSpPr>
          <p:cNvPr id="14" name="Shape 11"/>
          <p:cNvSpPr/>
          <p:nvPr/>
        </p:nvSpPr>
        <p:spPr>
          <a:xfrm>
            <a:off x="4160520" y="4434840"/>
            <a:ext cx="1289304" cy="365760"/>
          </a:xfrm>
          <a:prstGeom prst="roundRect">
            <a:avLst>
              <a:gd name="adj" fmla="val 50000"/>
            </a:avLst>
          </a:prstGeom>
          <a:solidFill>
            <a:srgbClr val="2D1B4E"/>
          </a:solidFill>
          <a:ln/>
        </p:spPr>
      </p:sp>
      <p:sp>
        <p:nvSpPr>
          <p:cNvPr id="15" name="Text 12"/>
          <p:cNvSpPr txBox="1"/>
          <p:nvPr/>
        </p:nvSpPr>
        <p:spPr>
          <a:xfrm>
            <a:off x="4160520" y="4434840"/>
            <a:ext cx="128930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B62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offset-md-2</a:t>
            </a:r>
            <a:endParaRPr lang="en-US" sz="1100" dirty="0"/>
          </a:p>
        </p:txBody>
      </p:sp>
      <p:sp>
        <p:nvSpPr>
          <p:cNvPr id="16" name="Shape 13"/>
          <p:cNvSpPr/>
          <p:nvPr/>
        </p:nvSpPr>
        <p:spPr>
          <a:xfrm>
            <a:off x="5586984" y="4434840"/>
            <a:ext cx="630936" cy="365760"/>
          </a:xfrm>
          <a:prstGeom prst="roundRect">
            <a:avLst>
              <a:gd name="adj" fmla="val 50000"/>
            </a:avLst>
          </a:prstGeom>
          <a:solidFill>
            <a:srgbClr val="2D1B4E"/>
          </a:solidFill>
          <a:ln/>
        </p:spPr>
      </p:sp>
      <p:sp>
        <p:nvSpPr>
          <p:cNvPr id="17" name="Text 14"/>
          <p:cNvSpPr txBox="1"/>
          <p:nvPr/>
        </p:nvSpPr>
        <p:spPr>
          <a:xfrm>
            <a:off x="5586984" y="4434840"/>
            <a:ext cx="63093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B62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g-3</a:t>
            </a:r>
            <a:endParaRPr lang="en-US" sz="1100" dirty="0"/>
          </a:p>
        </p:txBody>
      </p:sp>
      <p:sp>
        <p:nvSpPr>
          <p:cNvPr id="18" name="Text 15"/>
          <p:cNvSpPr txBox="1"/>
          <p:nvPr/>
        </p:nvSpPr>
        <p:spPr>
          <a:xfrm>
            <a:off x="6858000" y="1463040"/>
            <a:ext cx="4754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6B6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 columnas imaginarias</a:t>
            </a:r>
            <a:endParaRPr lang="en-US" sz="1200" dirty="0"/>
          </a:p>
        </p:txBody>
      </p:sp>
      <p:sp>
        <p:nvSpPr>
          <p:cNvPr id="19" name="Shape 16"/>
          <p:cNvSpPr/>
          <p:nvPr/>
        </p:nvSpPr>
        <p:spPr>
          <a:xfrm>
            <a:off x="6858000" y="1828800"/>
            <a:ext cx="345948" cy="457200"/>
          </a:xfrm>
          <a:prstGeom prst="rect">
            <a:avLst/>
          </a:prstGeom>
          <a:solidFill>
            <a:srgbClr val="E4DCF3"/>
          </a:solidFill>
          <a:ln w="6350">
            <a:solidFill>
              <a:srgbClr val="7952B3"/>
            </a:solidFill>
            <a:prstDash val="solid"/>
          </a:ln>
        </p:spPr>
      </p:sp>
      <p:sp>
        <p:nvSpPr>
          <p:cNvPr id="20" name="Shape 17"/>
          <p:cNvSpPr/>
          <p:nvPr/>
        </p:nvSpPr>
        <p:spPr>
          <a:xfrm>
            <a:off x="7258812" y="1828800"/>
            <a:ext cx="345948" cy="457200"/>
          </a:xfrm>
          <a:prstGeom prst="rect">
            <a:avLst/>
          </a:prstGeom>
          <a:solidFill>
            <a:srgbClr val="E4DCF3"/>
          </a:solidFill>
          <a:ln w="6350">
            <a:solidFill>
              <a:srgbClr val="7952B3"/>
            </a:solidFill>
            <a:prstDash val="solid"/>
          </a:ln>
        </p:spPr>
      </p:sp>
      <p:sp>
        <p:nvSpPr>
          <p:cNvPr id="21" name="Shape 18"/>
          <p:cNvSpPr/>
          <p:nvPr/>
        </p:nvSpPr>
        <p:spPr>
          <a:xfrm>
            <a:off x="7659624" y="1828800"/>
            <a:ext cx="345948" cy="457200"/>
          </a:xfrm>
          <a:prstGeom prst="rect">
            <a:avLst/>
          </a:prstGeom>
          <a:solidFill>
            <a:srgbClr val="E4DCF3"/>
          </a:solidFill>
          <a:ln w="6350">
            <a:solidFill>
              <a:srgbClr val="7952B3"/>
            </a:solidFill>
            <a:prstDash val="solid"/>
          </a:ln>
        </p:spPr>
      </p:sp>
      <p:sp>
        <p:nvSpPr>
          <p:cNvPr id="22" name="Shape 19"/>
          <p:cNvSpPr/>
          <p:nvPr/>
        </p:nvSpPr>
        <p:spPr>
          <a:xfrm>
            <a:off x="8060436" y="1828800"/>
            <a:ext cx="345948" cy="457200"/>
          </a:xfrm>
          <a:prstGeom prst="rect">
            <a:avLst/>
          </a:prstGeom>
          <a:solidFill>
            <a:srgbClr val="E4DCF3"/>
          </a:solidFill>
          <a:ln w="6350">
            <a:solidFill>
              <a:srgbClr val="7952B3"/>
            </a:solidFill>
            <a:prstDash val="solid"/>
          </a:ln>
        </p:spPr>
      </p:sp>
      <p:sp>
        <p:nvSpPr>
          <p:cNvPr id="23" name="Shape 20"/>
          <p:cNvSpPr/>
          <p:nvPr/>
        </p:nvSpPr>
        <p:spPr>
          <a:xfrm>
            <a:off x="8461248" y="1828800"/>
            <a:ext cx="345948" cy="457200"/>
          </a:xfrm>
          <a:prstGeom prst="rect">
            <a:avLst/>
          </a:prstGeom>
          <a:solidFill>
            <a:srgbClr val="E4DCF3"/>
          </a:solidFill>
          <a:ln w="6350">
            <a:solidFill>
              <a:srgbClr val="7952B3"/>
            </a:solidFill>
            <a:prstDash val="solid"/>
          </a:ln>
        </p:spPr>
      </p:sp>
      <p:sp>
        <p:nvSpPr>
          <p:cNvPr id="24" name="Shape 21"/>
          <p:cNvSpPr/>
          <p:nvPr/>
        </p:nvSpPr>
        <p:spPr>
          <a:xfrm>
            <a:off x="8862060" y="1828800"/>
            <a:ext cx="345948" cy="457200"/>
          </a:xfrm>
          <a:prstGeom prst="rect">
            <a:avLst/>
          </a:prstGeom>
          <a:solidFill>
            <a:srgbClr val="E4DCF3"/>
          </a:solidFill>
          <a:ln w="6350">
            <a:solidFill>
              <a:srgbClr val="7952B3"/>
            </a:solidFill>
            <a:prstDash val="solid"/>
          </a:ln>
        </p:spPr>
      </p:sp>
      <p:sp>
        <p:nvSpPr>
          <p:cNvPr id="25" name="Shape 22"/>
          <p:cNvSpPr/>
          <p:nvPr/>
        </p:nvSpPr>
        <p:spPr>
          <a:xfrm>
            <a:off x="9262872" y="1828800"/>
            <a:ext cx="345948" cy="457200"/>
          </a:xfrm>
          <a:prstGeom prst="rect">
            <a:avLst/>
          </a:prstGeom>
          <a:solidFill>
            <a:srgbClr val="E4DCF3"/>
          </a:solidFill>
          <a:ln w="6350">
            <a:solidFill>
              <a:srgbClr val="7952B3"/>
            </a:solidFill>
            <a:prstDash val="solid"/>
          </a:ln>
        </p:spPr>
      </p:sp>
      <p:sp>
        <p:nvSpPr>
          <p:cNvPr id="26" name="Shape 23"/>
          <p:cNvSpPr/>
          <p:nvPr/>
        </p:nvSpPr>
        <p:spPr>
          <a:xfrm>
            <a:off x="9663684" y="1828800"/>
            <a:ext cx="345948" cy="457200"/>
          </a:xfrm>
          <a:prstGeom prst="rect">
            <a:avLst/>
          </a:prstGeom>
          <a:solidFill>
            <a:srgbClr val="E4DCF3"/>
          </a:solidFill>
          <a:ln w="6350">
            <a:solidFill>
              <a:srgbClr val="7952B3"/>
            </a:solidFill>
            <a:prstDash val="solid"/>
          </a:ln>
        </p:spPr>
      </p:sp>
      <p:sp>
        <p:nvSpPr>
          <p:cNvPr id="27" name="Shape 24"/>
          <p:cNvSpPr/>
          <p:nvPr/>
        </p:nvSpPr>
        <p:spPr>
          <a:xfrm>
            <a:off x="10064496" y="1828800"/>
            <a:ext cx="345948" cy="457200"/>
          </a:xfrm>
          <a:prstGeom prst="rect">
            <a:avLst/>
          </a:prstGeom>
          <a:solidFill>
            <a:srgbClr val="E4DCF3"/>
          </a:solidFill>
          <a:ln w="6350">
            <a:solidFill>
              <a:srgbClr val="7952B3"/>
            </a:solidFill>
            <a:prstDash val="solid"/>
          </a:ln>
        </p:spPr>
      </p:sp>
      <p:sp>
        <p:nvSpPr>
          <p:cNvPr id="28" name="Shape 25"/>
          <p:cNvSpPr/>
          <p:nvPr/>
        </p:nvSpPr>
        <p:spPr>
          <a:xfrm>
            <a:off x="10465308" y="1828800"/>
            <a:ext cx="345948" cy="457200"/>
          </a:xfrm>
          <a:prstGeom prst="rect">
            <a:avLst/>
          </a:prstGeom>
          <a:solidFill>
            <a:srgbClr val="E4DCF3"/>
          </a:solidFill>
          <a:ln w="6350">
            <a:solidFill>
              <a:srgbClr val="7952B3"/>
            </a:solidFill>
            <a:prstDash val="solid"/>
          </a:ln>
        </p:spPr>
      </p:sp>
      <p:sp>
        <p:nvSpPr>
          <p:cNvPr id="29" name="Shape 26"/>
          <p:cNvSpPr/>
          <p:nvPr/>
        </p:nvSpPr>
        <p:spPr>
          <a:xfrm>
            <a:off x="10866120" y="1828800"/>
            <a:ext cx="345948" cy="457200"/>
          </a:xfrm>
          <a:prstGeom prst="rect">
            <a:avLst/>
          </a:prstGeom>
          <a:solidFill>
            <a:srgbClr val="E4DCF3"/>
          </a:solidFill>
          <a:ln w="6350">
            <a:solidFill>
              <a:srgbClr val="7952B3"/>
            </a:solidFill>
            <a:prstDash val="solid"/>
          </a:ln>
        </p:spPr>
      </p:sp>
      <p:sp>
        <p:nvSpPr>
          <p:cNvPr id="30" name="Shape 27"/>
          <p:cNvSpPr/>
          <p:nvPr/>
        </p:nvSpPr>
        <p:spPr>
          <a:xfrm>
            <a:off x="11266932" y="1828800"/>
            <a:ext cx="345948" cy="457200"/>
          </a:xfrm>
          <a:prstGeom prst="rect">
            <a:avLst/>
          </a:prstGeom>
          <a:solidFill>
            <a:srgbClr val="E4DCF3"/>
          </a:solidFill>
          <a:ln w="6350">
            <a:solidFill>
              <a:srgbClr val="7952B3"/>
            </a:solidFill>
            <a:prstDash val="solid"/>
          </a:ln>
        </p:spPr>
      </p:sp>
      <p:sp>
        <p:nvSpPr>
          <p:cNvPr id="31" name="Shape 28"/>
          <p:cNvSpPr/>
          <p:nvPr/>
        </p:nvSpPr>
        <p:spPr>
          <a:xfrm>
            <a:off x="6858000" y="2514600"/>
            <a:ext cx="2350008" cy="822960"/>
          </a:xfrm>
          <a:prstGeom prst="roundRect">
            <a:avLst>
              <a:gd name="adj" fmla="val 5556"/>
            </a:avLst>
          </a:prstGeom>
          <a:solidFill>
            <a:srgbClr val="7952B3"/>
          </a:solidFill>
          <a:ln/>
        </p:spPr>
      </p:sp>
      <p:sp>
        <p:nvSpPr>
          <p:cNvPr id="32" name="Text 29"/>
          <p:cNvSpPr txBox="1"/>
          <p:nvPr/>
        </p:nvSpPr>
        <p:spPr>
          <a:xfrm>
            <a:off x="6858000" y="2514600"/>
            <a:ext cx="2350008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col-6 col-md-4</a:t>
            </a:r>
            <a:endParaRPr lang="en-US" sz="1000" dirty="0"/>
          </a:p>
        </p:txBody>
      </p:sp>
      <p:sp>
        <p:nvSpPr>
          <p:cNvPr id="33" name="Shape 30"/>
          <p:cNvSpPr/>
          <p:nvPr/>
        </p:nvSpPr>
        <p:spPr>
          <a:xfrm>
            <a:off x="9262872" y="2514600"/>
            <a:ext cx="1548384" cy="822960"/>
          </a:xfrm>
          <a:prstGeom prst="roundRect">
            <a:avLst>
              <a:gd name="adj" fmla="val 5556"/>
            </a:avLst>
          </a:prstGeom>
          <a:solidFill>
            <a:srgbClr val="FFB627"/>
          </a:solidFill>
          <a:ln/>
        </p:spPr>
      </p:sp>
      <p:sp>
        <p:nvSpPr>
          <p:cNvPr id="34" name="Text 31"/>
          <p:cNvSpPr txBox="1"/>
          <p:nvPr/>
        </p:nvSpPr>
        <p:spPr>
          <a:xfrm>
            <a:off x="9262872" y="2514600"/>
            <a:ext cx="1548384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col-6 col-md-4</a:t>
            </a:r>
            <a:endParaRPr lang="en-US" sz="1000" dirty="0"/>
          </a:p>
        </p:txBody>
      </p:sp>
      <p:sp>
        <p:nvSpPr>
          <p:cNvPr id="35" name="Shape 32"/>
          <p:cNvSpPr/>
          <p:nvPr/>
        </p:nvSpPr>
        <p:spPr>
          <a:xfrm>
            <a:off x="10866120" y="2514600"/>
            <a:ext cx="746760" cy="822960"/>
          </a:xfrm>
          <a:prstGeom prst="roundRect">
            <a:avLst>
              <a:gd name="adj" fmla="val 6122"/>
            </a:avLst>
          </a:prstGeom>
          <a:solidFill>
            <a:srgbClr val="CFC4E8"/>
          </a:solidFill>
          <a:ln/>
        </p:spPr>
      </p:sp>
      <p:sp>
        <p:nvSpPr>
          <p:cNvPr id="36" name="Text 33"/>
          <p:cNvSpPr txBox="1"/>
          <p:nvPr/>
        </p:nvSpPr>
        <p:spPr>
          <a:xfrm>
            <a:off x="10866120" y="2514600"/>
            <a:ext cx="7467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24153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(offset)</a:t>
            </a:r>
            <a:endParaRPr lang="en-US" sz="1000" dirty="0"/>
          </a:p>
        </p:txBody>
      </p:sp>
      <p:sp>
        <p:nvSpPr>
          <p:cNvPr id="37" name="Text 34"/>
          <p:cNvSpPr txBox="1"/>
          <p:nvPr/>
        </p:nvSpPr>
        <p:spPr>
          <a:xfrm>
            <a:off x="6858000" y="3611880"/>
            <a:ext cx="47548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i="1" dirty="0">
                <a:solidFill>
                  <a:srgbClr val="6B6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Ejemplo tomado del propio tablero de "Bootstrap Quest": bloques col-6 col-md-4 que reordenan su ancho según el viewport.</a:t>
            </a:r>
            <a:endParaRPr lang="en-US" sz="1150" dirty="0"/>
          </a:p>
        </p:txBody>
      </p:sp>
      <p:sp>
        <p:nvSpPr>
          <p:cNvPr id="38" name="Text 35"/>
          <p:cNvSpPr txBox="1"/>
          <p:nvPr/>
        </p:nvSpPr>
        <p:spPr>
          <a:xfrm>
            <a:off x="11521440" y="644652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6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7F5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6576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7952B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PILAR B · ENTORNO RESPONSIVO</a:t>
            </a:r>
            <a:endParaRPr lang="en-US" sz="13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58368"/>
            <a:ext cx="10515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2415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Breakpoints y utilidades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737360"/>
            <a:ext cx="822960" cy="822960"/>
          </a:xfrm>
          <a:prstGeom prst="roundRect">
            <a:avLst>
              <a:gd name="adj" fmla="val 17778"/>
            </a:avLst>
          </a:prstGeom>
          <a:solidFill>
            <a:srgbClr val="7952B3"/>
          </a:solidFill>
          <a:ln/>
        </p:spPr>
      </p:sp>
      <p:pic>
        <p:nvPicPr>
          <p:cNvPr id="5" name="Image 0" descr="/home/claude/pptx/icon_mobile_whit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86384" y="1938528"/>
            <a:ext cx="365760" cy="420624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1554480" y="1737360"/>
            <a:ext cx="4846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7952B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Mecánica</a:t>
            </a:r>
            <a:endParaRPr lang="en-US" sz="1300" dirty="0"/>
          </a:p>
        </p:txBody>
      </p:sp>
      <p:sp>
        <p:nvSpPr>
          <p:cNvPr id="7" name="Text 4"/>
          <p:cNvSpPr txBox="1"/>
          <p:nvPr/>
        </p:nvSpPr>
        <p:spPr>
          <a:xfrm>
            <a:off x="1554480" y="2029968"/>
            <a:ext cx="4846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2415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Variables de entorno + Media Queries integradas.</a:t>
            </a:r>
            <a:endParaRPr lang="en-US" sz="1400" dirty="0"/>
          </a:p>
        </p:txBody>
      </p:sp>
      <p:sp>
        <p:nvSpPr>
          <p:cNvPr id="8" name="Text 5"/>
          <p:cNvSpPr txBox="1"/>
          <p:nvPr/>
        </p:nvSpPr>
        <p:spPr>
          <a:xfrm>
            <a:off x="1554480" y="2514600"/>
            <a:ext cx="4846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7952B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Función</a:t>
            </a:r>
            <a:endParaRPr lang="en-US" sz="1300" dirty="0"/>
          </a:p>
        </p:txBody>
      </p:sp>
      <p:sp>
        <p:nvSpPr>
          <p:cNvPr id="9" name="Text 6"/>
          <p:cNvSpPr txBox="1"/>
          <p:nvPr/>
        </p:nvSpPr>
        <p:spPr>
          <a:xfrm>
            <a:off x="1554480" y="2807208"/>
            <a:ext cx="484632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400" dirty="0">
                <a:solidFill>
                  <a:srgbClr val="2415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Programa la visibilidad y disposición según el hardware: oculta flujos de datos pesados en pantallas pequeñas con utilidades lógicas de visualización, optimizando el renderizado en móviles.</a:t>
            </a:r>
            <a:endParaRPr lang="en-US" sz="1400" dirty="0"/>
          </a:p>
        </p:txBody>
      </p:sp>
      <p:sp>
        <p:nvSpPr>
          <p:cNvPr id="10" name="Shape 7"/>
          <p:cNvSpPr/>
          <p:nvPr/>
        </p:nvSpPr>
        <p:spPr>
          <a:xfrm>
            <a:off x="1554480" y="4343400"/>
            <a:ext cx="2926080" cy="457200"/>
          </a:xfrm>
          <a:prstGeom prst="roundRect">
            <a:avLst>
              <a:gd name="adj" fmla="val 50000"/>
            </a:avLst>
          </a:prstGeom>
          <a:solidFill>
            <a:srgbClr val="2D1B4E"/>
          </a:solidFill>
          <a:ln/>
        </p:spPr>
      </p:sp>
      <p:sp>
        <p:nvSpPr>
          <p:cNvPr id="11" name="Text 8"/>
          <p:cNvSpPr txBox="1"/>
          <p:nvPr/>
        </p:nvSpPr>
        <p:spPr>
          <a:xfrm>
            <a:off x="1554480" y="4343400"/>
            <a:ext cx="2926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FFB62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d-none d-lg-block</a:t>
            </a:r>
            <a:endParaRPr lang="en-US" sz="1200" dirty="0"/>
          </a:p>
        </p:txBody>
      </p:sp>
      <p:graphicFrame>
        <p:nvGraphicFramePr>
          <p:cNvPr id="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858000" y="1783080"/>
          <a:ext cx="4754880" cy="2926080"/>
        </p:xfrm>
        <a:graphic>
          <a:graphicData uri="http://schemas.openxmlformats.org/drawingml/2006/table">
            <a:tbl>
              <a:tblPr/>
              <a:tblGrid>
                <a:gridCol w="1737360"/>
                <a:gridCol w="1280160"/>
                <a:gridCol w="1737360"/>
              </a:tblGrid>
              <a:tr h="418011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Breakpoint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D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D1B4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Prefijo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D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D1B4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Ancho mínimo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D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D1B4E"/>
                    </a:solidFill>
                  </a:tcPr>
                </a:tc>
              </a:tr>
              <a:tr h="418011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241533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Extra small</a:t>
                      </a:r>
                      <a:endParaRPr lang="en-US" sz="115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D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6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241533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(ninguno)</a:t>
                      </a:r>
                      <a:endParaRPr lang="en-US" sz="115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D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6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241533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&lt;576px</a:t>
                      </a:r>
                      <a:endParaRPr lang="en-US" sz="115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D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6F7"/>
                    </a:solidFill>
                  </a:tcPr>
                </a:tc>
              </a:tr>
              <a:tr h="418011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241533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Small</a:t>
                      </a:r>
                      <a:endParaRPr lang="en-US" sz="115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D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241533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sm</a:t>
                      </a:r>
                      <a:endParaRPr lang="en-US" sz="115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D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241533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≥576px</a:t>
                      </a:r>
                      <a:endParaRPr lang="en-US" sz="115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D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18011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241533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Medium</a:t>
                      </a:r>
                      <a:endParaRPr lang="en-US" sz="115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D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6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241533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md</a:t>
                      </a:r>
                      <a:endParaRPr lang="en-US" sz="115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D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6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241533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≥768px</a:t>
                      </a:r>
                      <a:endParaRPr lang="en-US" sz="115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D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6F7"/>
                    </a:solidFill>
                  </a:tcPr>
                </a:tc>
              </a:tr>
              <a:tr h="418011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241533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Large</a:t>
                      </a:r>
                      <a:endParaRPr lang="en-US" sz="115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D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241533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lg</a:t>
                      </a:r>
                      <a:endParaRPr lang="en-US" sz="115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D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241533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≥992px</a:t>
                      </a:r>
                      <a:endParaRPr lang="en-US" sz="115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D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18011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241533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Extra large</a:t>
                      </a:r>
                      <a:endParaRPr lang="en-US" sz="115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D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6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241533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xl</a:t>
                      </a:r>
                      <a:endParaRPr lang="en-US" sz="115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D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6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241533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≥1200px</a:t>
                      </a:r>
                      <a:endParaRPr lang="en-US" sz="115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D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6F7"/>
                    </a:solidFill>
                  </a:tcPr>
                </a:tc>
              </a:tr>
              <a:tr h="418011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241533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XXL</a:t>
                      </a:r>
                      <a:endParaRPr lang="en-US" sz="115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D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241533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xxl</a:t>
                      </a:r>
                      <a:endParaRPr lang="en-US" sz="115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D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241533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≥1400px</a:t>
                      </a:r>
                      <a:endParaRPr lang="en-US" sz="115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D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3" name="Text 9"/>
          <p:cNvSpPr txBox="1"/>
          <p:nvPr/>
        </p:nvSpPr>
        <p:spPr>
          <a:xfrm>
            <a:off x="6858000" y="4846320"/>
            <a:ext cx="47548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i="1" dirty="0">
                <a:solidFill>
                  <a:srgbClr val="6B6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Menos código a mano = menos bugs de compatibilidad entre navegadores.</a:t>
            </a:r>
            <a:endParaRPr lang="en-US" sz="1250" dirty="0"/>
          </a:p>
        </p:txBody>
      </p:sp>
      <p:sp>
        <p:nvSpPr>
          <p:cNvPr id="14" name="Text 10"/>
          <p:cNvSpPr txBox="1"/>
          <p:nvPr/>
        </p:nvSpPr>
        <p:spPr>
          <a:xfrm>
            <a:off x="11521440" y="644652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6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2D1B4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6576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FFB6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PILAR C · INTERACTIVIDAD</a:t>
            </a:r>
            <a:endParaRPr lang="en-US" sz="13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58368"/>
            <a:ext cx="10515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Motor de interactividad (JavaScript nativo)</a:t>
            </a:r>
            <a:endParaRPr lang="en-US" sz="28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371600"/>
            <a:ext cx="10515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D9D3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Desde Bootstrap 5 no depende de jQuery: cada plugin es una clase de JS moderno que gestiona su propio estado.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548640" y="2103120"/>
            <a:ext cx="3611880" cy="3383280"/>
          </a:xfrm>
          <a:prstGeom prst="roundRect">
            <a:avLst>
              <a:gd name="adj" fmla="val 3243"/>
            </a:avLst>
          </a:prstGeom>
          <a:solidFill>
            <a:srgbClr val="3A2764"/>
          </a:solidFill>
          <a:ln/>
        </p:spPr>
      </p:sp>
      <p:sp>
        <p:nvSpPr>
          <p:cNvPr id="6" name="Shape 4"/>
          <p:cNvSpPr/>
          <p:nvPr/>
        </p:nvSpPr>
        <p:spPr>
          <a:xfrm>
            <a:off x="822960" y="2377440"/>
            <a:ext cx="640080" cy="640080"/>
          </a:xfrm>
          <a:prstGeom prst="roundRect">
            <a:avLst>
              <a:gd name="adj" fmla="val 20000"/>
            </a:avLst>
          </a:prstGeom>
          <a:solidFill>
            <a:srgbClr val="7952B3"/>
          </a:solidFill>
          <a:ln/>
        </p:spPr>
      </p:sp>
      <p:pic>
        <p:nvPicPr>
          <p:cNvPr id="7" name="Image 0" descr="/home/claude/pptx/icon_cogs_amber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78408" y="2532888"/>
            <a:ext cx="329184" cy="329184"/>
          </a:xfrm>
          <a:prstGeom prst="rect">
            <a:avLst/>
          </a:prstGeom>
        </p:spPr>
      </p:pic>
      <p:sp>
        <p:nvSpPr>
          <p:cNvPr id="8" name="Text 5"/>
          <p:cNvSpPr txBox="1"/>
          <p:nvPr/>
        </p:nvSpPr>
        <p:spPr>
          <a:xfrm>
            <a:off x="822960" y="3200400"/>
            <a:ext cx="3063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Gestión de estados</a:t>
            </a:r>
            <a:endParaRPr lang="en-US" sz="1600" dirty="0"/>
          </a:p>
        </p:txBody>
      </p:sp>
      <p:sp>
        <p:nvSpPr>
          <p:cNvPr id="9" name="Text 6"/>
          <p:cNvSpPr txBox="1"/>
          <p:nvPr/>
        </p:nvSpPr>
        <p:spPr>
          <a:xfrm>
            <a:off x="822960" y="3794760"/>
            <a:ext cx="306324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D9D3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Apertura, cierre y persistencia de modales, menús colapsables (Collapse) y barras Offcanvas.</a:t>
            </a:r>
            <a:endParaRPr lang="en-US" sz="1250" dirty="0"/>
          </a:p>
        </p:txBody>
      </p:sp>
      <p:sp>
        <p:nvSpPr>
          <p:cNvPr id="10" name="Shape 7"/>
          <p:cNvSpPr/>
          <p:nvPr/>
        </p:nvSpPr>
        <p:spPr>
          <a:xfrm>
            <a:off x="4389120" y="2103120"/>
            <a:ext cx="3611880" cy="3383280"/>
          </a:xfrm>
          <a:prstGeom prst="roundRect">
            <a:avLst>
              <a:gd name="adj" fmla="val 3243"/>
            </a:avLst>
          </a:prstGeom>
          <a:solidFill>
            <a:srgbClr val="3A2764"/>
          </a:solidFill>
          <a:ln/>
        </p:spPr>
      </p:sp>
      <p:sp>
        <p:nvSpPr>
          <p:cNvPr id="11" name="Shape 8"/>
          <p:cNvSpPr/>
          <p:nvPr/>
        </p:nvSpPr>
        <p:spPr>
          <a:xfrm>
            <a:off x="4663440" y="2377440"/>
            <a:ext cx="640080" cy="640080"/>
          </a:xfrm>
          <a:prstGeom prst="roundRect">
            <a:avLst>
              <a:gd name="adj" fmla="val 20000"/>
            </a:avLst>
          </a:prstGeom>
          <a:solidFill>
            <a:srgbClr val="7952B3"/>
          </a:solidFill>
          <a:ln/>
        </p:spPr>
      </p:sp>
      <p:pic>
        <p:nvPicPr>
          <p:cNvPr id="12" name="Image 1" descr="/home/claude/pptx/icon_bolt_amber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18888" y="2532888"/>
            <a:ext cx="329184" cy="329184"/>
          </a:xfrm>
          <a:prstGeom prst="rect">
            <a:avLst/>
          </a:prstGeom>
        </p:spPr>
      </p:pic>
      <p:sp>
        <p:nvSpPr>
          <p:cNvPr id="13" name="Text 9"/>
          <p:cNvSpPr txBox="1"/>
          <p:nvPr/>
        </p:nvSpPr>
        <p:spPr>
          <a:xfrm>
            <a:off x="4663440" y="3200400"/>
            <a:ext cx="3063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Componentes de flujo</a:t>
            </a:r>
            <a:endParaRPr lang="en-US" sz="1600" dirty="0"/>
          </a:p>
        </p:txBody>
      </p:sp>
      <p:sp>
        <p:nvSpPr>
          <p:cNvPr id="14" name="Text 10"/>
          <p:cNvSpPr txBox="1"/>
          <p:nvPr/>
        </p:nvSpPr>
        <p:spPr>
          <a:xfrm>
            <a:off x="4663440" y="3794760"/>
            <a:ext cx="306324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D9D3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Temporizadores automáticos para carruseles y posicionamiento dinámico de Tooltips y Popovers.</a:t>
            </a:r>
            <a:endParaRPr lang="en-US" sz="1250" dirty="0"/>
          </a:p>
        </p:txBody>
      </p:sp>
      <p:sp>
        <p:nvSpPr>
          <p:cNvPr id="15" name="Shape 11"/>
          <p:cNvSpPr/>
          <p:nvPr/>
        </p:nvSpPr>
        <p:spPr>
          <a:xfrm>
            <a:off x="8229600" y="2103120"/>
            <a:ext cx="3611880" cy="3383280"/>
          </a:xfrm>
          <a:prstGeom prst="roundRect">
            <a:avLst>
              <a:gd name="adj" fmla="val 3243"/>
            </a:avLst>
          </a:prstGeom>
          <a:solidFill>
            <a:srgbClr val="3A2764"/>
          </a:solidFill>
          <a:ln/>
        </p:spPr>
      </p:sp>
      <p:sp>
        <p:nvSpPr>
          <p:cNvPr id="16" name="Shape 12"/>
          <p:cNvSpPr/>
          <p:nvPr/>
        </p:nvSpPr>
        <p:spPr>
          <a:xfrm>
            <a:off x="8503920" y="2377440"/>
            <a:ext cx="640080" cy="640080"/>
          </a:xfrm>
          <a:prstGeom prst="roundRect">
            <a:avLst>
              <a:gd name="adj" fmla="val 20000"/>
            </a:avLst>
          </a:prstGeom>
          <a:solidFill>
            <a:srgbClr val="7952B3"/>
          </a:solidFill>
          <a:ln/>
        </p:spPr>
      </p:sp>
      <p:pic>
        <p:nvPicPr>
          <p:cNvPr id="17" name="Image 2" descr="/home/claude/pptx/icon_code_amber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659368" y="2532888"/>
            <a:ext cx="329184" cy="329184"/>
          </a:xfrm>
          <a:prstGeom prst="rect">
            <a:avLst/>
          </a:prstGeom>
        </p:spPr>
      </p:pic>
      <p:sp>
        <p:nvSpPr>
          <p:cNvPr id="18" name="Text 13"/>
          <p:cNvSpPr txBox="1"/>
          <p:nvPr/>
        </p:nvSpPr>
        <p:spPr>
          <a:xfrm>
            <a:off x="8503920" y="3200400"/>
            <a:ext cx="3063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Eventos personalizados</a:t>
            </a:r>
            <a:endParaRPr lang="en-US" sz="1600" dirty="0"/>
          </a:p>
        </p:txBody>
      </p:sp>
      <p:sp>
        <p:nvSpPr>
          <p:cNvPr id="19" name="Text 14"/>
          <p:cNvSpPr txBox="1"/>
          <p:nvPr/>
        </p:nvSpPr>
        <p:spPr>
          <a:xfrm>
            <a:off x="8503920" y="3794760"/>
            <a:ext cx="306324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D9D3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Cada acción emite eventos nativos (show.bs.modal, hidden.bs.offcanvas) para enganchar lógica propia.</a:t>
            </a:r>
            <a:endParaRPr lang="en-US" sz="1250" dirty="0"/>
          </a:p>
        </p:txBody>
      </p:sp>
      <p:sp>
        <p:nvSpPr>
          <p:cNvPr id="20" name="Text 15"/>
          <p:cNvSpPr txBox="1"/>
          <p:nvPr/>
        </p:nvSpPr>
        <p:spPr>
          <a:xfrm>
            <a:off x="11521440" y="644652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6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7F5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6576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7952B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PILAR D · ESTÁNDARES COMPUTACIONALES</a:t>
            </a:r>
            <a:endParaRPr lang="en-US" sz="13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58368"/>
            <a:ext cx="10515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2415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Accesibilidad (ARIA)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737360"/>
            <a:ext cx="822960" cy="822960"/>
          </a:xfrm>
          <a:prstGeom prst="roundRect">
            <a:avLst>
              <a:gd name="adj" fmla="val 17778"/>
            </a:avLst>
          </a:prstGeom>
          <a:solidFill>
            <a:srgbClr val="7952B3"/>
          </a:solidFill>
          <a:ln/>
        </p:spPr>
      </p:sp>
      <p:pic>
        <p:nvPicPr>
          <p:cNvPr id="5" name="Image 0" descr="/home/claude/pptx/icon_access_whit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49808" y="1938528"/>
            <a:ext cx="420624" cy="420624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1554480" y="1737360"/>
            <a:ext cx="4937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7952B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Mecánica</a:t>
            </a:r>
            <a:endParaRPr lang="en-US" sz="1300" dirty="0"/>
          </a:p>
        </p:txBody>
      </p:sp>
      <p:sp>
        <p:nvSpPr>
          <p:cNvPr id="7" name="Text 4"/>
          <p:cNvSpPr txBox="1"/>
          <p:nvPr/>
        </p:nvSpPr>
        <p:spPr>
          <a:xfrm>
            <a:off x="1554480" y="2029968"/>
            <a:ext cx="49377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400" dirty="0">
                <a:solidFill>
                  <a:srgbClr val="2415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Integración nativa de atributos ARIA (Accessible Rich Internet Applications).</a:t>
            </a:r>
            <a:endParaRPr lang="en-US" sz="1400" dirty="0"/>
          </a:p>
        </p:txBody>
      </p:sp>
      <p:sp>
        <p:nvSpPr>
          <p:cNvPr id="8" name="Text 5"/>
          <p:cNvSpPr txBox="1"/>
          <p:nvPr/>
        </p:nvSpPr>
        <p:spPr>
          <a:xfrm>
            <a:off x="1554480" y="2697480"/>
            <a:ext cx="4937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7952B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Función</a:t>
            </a:r>
            <a:endParaRPr lang="en-US" sz="1300" dirty="0"/>
          </a:p>
        </p:txBody>
      </p:sp>
      <p:sp>
        <p:nvSpPr>
          <p:cNvPr id="9" name="Text 6"/>
          <p:cNvSpPr txBox="1"/>
          <p:nvPr/>
        </p:nvSpPr>
        <p:spPr>
          <a:xfrm>
            <a:off x="1554480" y="2990088"/>
            <a:ext cx="493776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400" dirty="0">
                <a:solidFill>
                  <a:srgbClr val="2415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Suministra a los lectores de pantalla la estructura lógica necesaria para navegar el software, notificando transiciones dinámicas como abrir un menú.</a:t>
            </a:r>
            <a:endParaRPr lang="en-US" sz="1400" dirty="0"/>
          </a:p>
        </p:txBody>
      </p:sp>
      <p:sp>
        <p:nvSpPr>
          <p:cNvPr id="10" name="Shape 7"/>
          <p:cNvSpPr/>
          <p:nvPr/>
        </p:nvSpPr>
        <p:spPr>
          <a:xfrm>
            <a:off x="1554480" y="4343400"/>
            <a:ext cx="1321308" cy="384048"/>
          </a:xfrm>
          <a:prstGeom prst="roundRect">
            <a:avLst>
              <a:gd name="adj" fmla="val 50000"/>
            </a:avLst>
          </a:prstGeom>
          <a:solidFill>
            <a:srgbClr val="2D1B4E"/>
          </a:solidFill>
          <a:ln/>
        </p:spPr>
      </p:sp>
      <p:sp>
        <p:nvSpPr>
          <p:cNvPr id="11" name="Text 8"/>
          <p:cNvSpPr txBox="1"/>
          <p:nvPr/>
        </p:nvSpPr>
        <p:spPr>
          <a:xfrm>
            <a:off x="1554480" y="4343400"/>
            <a:ext cx="132130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FFB62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aria-hidden</a:t>
            </a:r>
            <a:endParaRPr lang="en-US" sz="1050" dirty="0"/>
          </a:p>
        </p:txBody>
      </p:sp>
      <p:sp>
        <p:nvSpPr>
          <p:cNvPr id="12" name="Shape 9"/>
          <p:cNvSpPr/>
          <p:nvPr/>
        </p:nvSpPr>
        <p:spPr>
          <a:xfrm>
            <a:off x="3012948" y="4343400"/>
            <a:ext cx="1495044" cy="384048"/>
          </a:xfrm>
          <a:prstGeom prst="roundRect">
            <a:avLst>
              <a:gd name="adj" fmla="val 50000"/>
            </a:avLst>
          </a:prstGeom>
          <a:solidFill>
            <a:srgbClr val="2D1B4E"/>
          </a:solidFill>
          <a:ln/>
        </p:spPr>
      </p:sp>
      <p:sp>
        <p:nvSpPr>
          <p:cNvPr id="13" name="Text 10"/>
          <p:cNvSpPr txBox="1"/>
          <p:nvPr/>
        </p:nvSpPr>
        <p:spPr>
          <a:xfrm>
            <a:off x="3012948" y="4343400"/>
            <a:ext cx="149504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FFB62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aria-controls</a:t>
            </a:r>
            <a:endParaRPr lang="en-US" sz="1050" dirty="0"/>
          </a:p>
        </p:txBody>
      </p:sp>
      <p:sp>
        <p:nvSpPr>
          <p:cNvPr id="14" name="Shape 11"/>
          <p:cNvSpPr/>
          <p:nvPr/>
        </p:nvSpPr>
        <p:spPr>
          <a:xfrm>
            <a:off x="1554480" y="4846320"/>
            <a:ext cx="1668780" cy="384048"/>
          </a:xfrm>
          <a:prstGeom prst="roundRect">
            <a:avLst>
              <a:gd name="adj" fmla="val 50000"/>
            </a:avLst>
          </a:prstGeom>
          <a:solidFill>
            <a:srgbClr val="2D1B4E"/>
          </a:solidFill>
          <a:ln/>
        </p:spPr>
      </p:sp>
      <p:sp>
        <p:nvSpPr>
          <p:cNvPr id="15" name="Text 12"/>
          <p:cNvSpPr txBox="1"/>
          <p:nvPr/>
        </p:nvSpPr>
        <p:spPr>
          <a:xfrm>
            <a:off x="1554480" y="4846320"/>
            <a:ext cx="16687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FFB62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aria-labelledby</a:t>
            </a:r>
            <a:endParaRPr lang="en-US" sz="1050" dirty="0"/>
          </a:p>
        </p:txBody>
      </p:sp>
      <p:sp>
        <p:nvSpPr>
          <p:cNvPr id="16" name="Shape 13"/>
          <p:cNvSpPr/>
          <p:nvPr/>
        </p:nvSpPr>
        <p:spPr>
          <a:xfrm>
            <a:off x="3360420" y="4846320"/>
            <a:ext cx="1147572" cy="384048"/>
          </a:xfrm>
          <a:prstGeom prst="roundRect">
            <a:avLst>
              <a:gd name="adj" fmla="val 50000"/>
            </a:avLst>
          </a:prstGeom>
          <a:solidFill>
            <a:srgbClr val="2D1B4E"/>
          </a:solidFill>
          <a:ln/>
        </p:spPr>
      </p:sp>
      <p:sp>
        <p:nvSpPr>
          <p:cNvPr id="17" name="Text 14"/>
          <p:cNvSpPr txBox="1"/>
          <p:nvPr/>
        </p:nvSpPr>
        <p:spPr>
          <a:xfrm>
            <a:off x="3360420" y="4846320"/>
            <a:ext cx="114757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FFB62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aria-live</a:t>
            </a:r>
            <a:endParaRPr lang="en-US" sz="1050" dirty="0"/>
          </a:p>
        </p:txBody>
      </p:sp>
      <p:sp>
        <p:nvSpPr>
          <p:cNvPr id="18" name="Shape 15"/>
          <p:cNvSpPr/>
          <p:nvPr/>
        </p:nvSpPr>
        <p:spPr>
          <a:xfrm>
            <a:off x="7223760" y="1737360"/>
            <a:ext cx="4389120" cy="4434840"/>
          </a:xfrm>
          <a:prstGeom prst="roundRect">
            <a:avLst>
              <a:gd name="adj" fmla="val 2500"/>
            </a:avLst>
          </a:prstGeom>
          <a:solidFill>
            <a:srgbClr val="2D1B4E"/>
          </a:solidFill>
          <a:ln/>
        </p:spPr>
      </p:sp>
      <p:sp>
        <p:nvSpPr>
          <p:cNvPr id="19" name="Text 16"/>
          <p:cNvSpPr txBox="1"/>
          <p:nvPr/>
        </p:nvSpPr>
        <p:spPr>
          <a:xfrm>
            <a:off x="7543800" y="1965960"/>
            <a:ext cx="3749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¿Por qué importa en código?</a:t>
            </a:r>
            <a:endParaRPr lang="en-US" sz="1500" dirty="0"/>
          </a:p>
        </p:txBody>
      </p:sp>
      <p:sp>
        <p:nvSpPr>
          <p:cNvPr id="20" name="Shape 17"/>
          <p:cNvSpPr/>
          <p:nvPr/>
        </p:nvSpPr>
        <p:spPr>
          <a:xfrm>
            <a:off x="7543800" y="2679192"/>
            <a:ext cx="91440" cy="91440"/>
          </a:xfrm>
          <a:prstGeom prst="ellipse">
            <a:avLst/>
          </a:prstGeom>
          <a:solidFill>
            <a:srgbClr val="FFB627"/>
          </a:solidFill>
          <a:ln/>
        </p:spPr>
      </p:sp>
      <p:sp>
        <p:nvSpPr>
          <p:cNvPr id="21" name="Text 18"/>
          <p:cNvSpPr txBox="1"/>
          <p:nvPr/>
        </p:nvSpPr>
        <p:spPr>
          <a:xfrm>
            <a:off x="7772400" y="2606040"/>
            <a:ext cx="35661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D9D3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es solo "buena práctica": es parte del contrato funcional del componente.</a:t>
            </a:r>
            <a:endParaRPr lang="en-US" sz="1250" dirty="0"/>
          </a:p>
        </p:txBody>
      </p:sp>
      <p:sp>
        <p:nvSpPr>
          <p:cNvPr id="22" name="Shape 19"/>
          <p:cNvSpPr/>
          <p:nvPr/>
        </p:nvSpPr>
        <p:spPr>
          <a:xfrm>
            <a:off x="7543800" y="3547872"/>
            <a:ext cx="91440" cy="91440"/>
          </a:xfrm>
          <a:prstGeom prst="ellipse">
            <a:avLst/>
          </a:prstGeom>
          <a:solidFill>
            <a:srgbClr val="FFB627"/>
          </a:solidFill>
          <a:ln/>
        </p:spPr>
      </p:sp>
      <p:sp>
        <p:nvSpPr>
          <p:cNvPr id="23" name="Text 20"/>
          <p:cNvSpPr txBox="1"/>
          <p:nvPr/>
        </p:nvSpPr>
        <p:spPr>
          <a:xfrm>
            <a:off x="7772400" y="3474720"/>
            <a:ext cx="35661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D9D3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 abrir un modal, el foco se atrapa dentro y se restaura al cerrar automáticamente.</a:t>
            </a:r>
            <a:endParaRPr lang="en-US" sz="1250" dirty="0"/>
          </a:p>
        </p:txBody>
      </p:sp>
      <p:sp>
        <p:nvSpPr>
          <p:cNvPr id="24" name="Shape 21"/>
          <p:cNvSpPr/>
          <p:nvPr/>
        </p:nvSpPr>
        <p:spPr>
          <a:xfrm>
            <a:off x="7543800" y="4416552"/>
            <a:ext cx="91440" cy="91440"/>
          </a:xfrm>
          <a:prstGeom prst="ellipse">
            <a:avLst/>
          </a:prstGeom>
          <a:solidFill>
            <a:srgbClr val="FFB627"/>
          </a:solidFill>
          <a:ln/>
        </p:spPr>
      </p:sp>
      <p:sp>
        <p:nvSpPr>
          <p:cNvPr id="25" name="Text 22"/>
          <p:cNvSpPr txBox="1"/>
          <p:nvPr/>
        </p:nvSpPr>
        <p:spPr>
          <a:xfrm>
            <a:off x="7772400" y="4343400"/>
            <a:ext cx="35661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D9D3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offcanvas notifica al sistema operativo el cambio de contexto sin JS adicional.</a:t>
            </a:r>
            <a:endParaRPr lang="en-US" sz="1250" dirty="0"/>
          </a:p>
        </p:txBody>
      </p:sp>
      <p:sp>
        <p:nvSpPr>
          <p:cNvPr id="26" name="Text 23"/>
          <p:cNvSpPr txBox="1"/>
          <p:nvPr/>
        </p:nvSpPr>
        <p:spPr>
          <a:xfrm>
            <a:off x="11521440" y="644652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6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7F5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6576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7952B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MÁS ALLÁ DEL INFORME</a:t>
            </a:r>
            <a:endParaRPr lang="en-US" sz="13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58368"/>
            <a:ext cx="10515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2415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Theming en tiempo real con variables CSS</a:t>
            </a:r>
            <a:endParaRPr lang="en-US" sz="30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691640"/>
            <a:ext cx="63093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500" dirty="0">
                <a:solidFill>
                  <a:srgbClr val="2415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Desde Bootstrap 5.3, casi todo el sistema de color se expone como variables CSS nativas, no solo como Sass compilado.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548640" y="2788920"/>
            <a:ext cx="54864" cy="685800"/>
          </a:xfrm>
          <a:prstGeom prst="rect">
            <a:avLst/>
          </a:prstGeom>
          <a:solidFill>
            <a:srgbClr val="FFB627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777240" y="2743200"/>
            <a:ext cx="5943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415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Modo oscuro sin JS extra</a:t>
            </a:r>
            <a:endParaRPr lang="en-US" sz="1400" dirty="0"/>
          </a:p>
        </p:txBody>
      </p:sp>
      <p:sp>
        <p:nvSpPr>
          <p:cNvPr id="7" name="Text 5"/>
          <p:cNvSpPr txBox="1"/>
          <p:nvPr/>
        </p:nvSpPr>
        <p:spPr>
          <a:xfrm>
            <a:off x="777240" y="3035808"/>
            <a:ext cx="5943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6B6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atributo data-bs-theme="dark" reescribe las variables --bs-* en tiempo de ejecución, sin recompilar CSS.</a:t>
            </a:r>
            <a:endParaRPr lang="en-US" sz="1250" dirty="0"/>
          </a:p>
        </p:txBody>
      </p:sp>
      <p:sp>
        <p:nvSpPr>
          <p:cNvPr id="8" name="Shape 6"/>
          <p:cNvSpPr/>
          <p:nvPr/>
        </p:nvSpPr>
        <p:spPr>
          <a:xfrm>
            <a:off x="548640" y="3703320"/>
            <a:ext cx="54864" cy="685800"/>
          </a:xfrm>
          <a:prstGeom prst="rect">
            <a:avLst/>
          </a:prstGeom>
          <a:solidFill>
            <a:srgbClr val="FFB627"/>
          </a:solidFill>
          <a:ln/>
        </p:spPr>
      </p:sp>
      <p:sp>
        <p:nvSpPr>
          <p:cNvPr id="9" name="Text 7"/>
          <p:cNvSpPr txBox="1"/>
          <p:nvPr/>
        </p:nvSpPr>
        <p:spPr>
          <a:xfrm>
            <a:off x="777240" y="3657600"/>
            <a:ext cx="5943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415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Personalización en el navegador</a:t>
            </a:r>
            <a:endParaRPr lang="en-US" sz="1400" dirty="0"/>
          </a:p>
        </p:txBody>
      </p:sp>
      <p:sp>
        <p:nvSpPr>
          <p:cNvPr id="10" name="Text 8"/>
          <p:cNvSpPr txBox="1"/>
          <p:nvPr/>
        </p:nvSpPr>
        <p:spPr>
          <a:xfrm>
            <a:off x="777240" y="3950208"/>
            <a:ext cx="5943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6B6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Cambiar --bs-primary por JS actualiza toda la interfaz al instante, útil para temas de usuario.</a:t>
            </a:r>
            <a:endParaRPr lang="en-US" sz="1250" dirty="0"/>
          </a:p>
        </p:txBody>
      </p:sp>
      <p:sp>
        <p:nvSpPr>
          <p:cNvPr id="11" name="Shape 9"/>
          <p:cNvSpPr/>
          <p:nvPr/>
        </p:nvSpPr>
        <p:spPr>
          <a:xfrm>
            <a:off x="548640" y="4617720"/>
            <a:ext cx="54864" cy="685800"/>
          </a:xfrm>
          <a:prstGeom prst="rect">
            <a:avLst/>
          </a:prstGeom>
          <a:solidFill>
            <a:srgbClr val="FFB627"/>
          </a:solidFill>
          <a:ln/>
        </p:spPr>
      </p:sp>
      <p:sp>
        <p:nvSpPr>
          <p:cNvPr id="12" name="Text 10"/>
          <p:cNvSpPr txBox="1"/>
          <p:nvPr/>
        </p:nvSpPr>
        <p:spPr>
          <a:xfrm>
            <a:off x="777240" y="4572000"/>
            <a:ext cx="5943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415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Compatibilidad con Sass</a:t>
            </a:r>
            <a:endParaRPr lang="en-US" sz="1400" dirty="0"/>
          </a:p>
        </p:txBody>
      </p:sp>
      <p:sp>
        <p:nvSpPr>
          <p:cNvPr id="13" name="Text 11"/>
          <p:cNvSpPr txBox="1"/>
          <p:nvPr/>
        </p:nvSpPr>
        <p:spPr>
          <a:xfrm>
            <a:off x="777240" y="4864608"/>
            <a:ext cx="5943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6B6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Los mapas de Sass siguen generando las utilidades; las variables CSS son la capa final de entrega.</a:t>
            </a:r>
            <a:endParaRPr lang="en-US" sz="1250" dirty="0"/>
          </a:p>
        </p:txBody>
      </p:sp>
      <p:sp>
        <p:nvSpPr>
          <p:cNvPr id="14" name="Shape 12"/>
          <p:cNvSpPr/>
          <p:nvPr/>
        </p:nvSpPr>
        <p:spPr>
          <a:xfrm>
            <a:off x="7223760" y="1691640"/>
            <a:ext cx="4389120" cy="4480560"/>
          </a:xfrm>
          <a:prstGeom prst="roundRect">
            <a:avLst>
              <a:gd name="adj" fmla="val 2083"/>
            </a:avLst>
          </a:prstGeom>
          <a:solidFill>
            <a:srgbClr val="1B1030"/>
          </a:solidFill>
          <a:ln/>
        </p:spPr>
      </p:sp>
      <p:sp>
        <p:nvSpPr>
          <p:cNvPr id="15" name="Text 13"/>
          <p:cNvSpPr txBox="1"/>
          <p:nvPr/>
        </p:nvSpPr>
        <p:spPr>
          <a:xfrm>
            <a:off x="7498080" y="1874520"/>
            <a:ext cx="3840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F94B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data-bs-theme</a:t>
            </a:r>
            <a:endParaRPr lang="en-US" sz="1200" dirty="0"/>
          </a:p>
        </p:txBody>
      </p:sp>
      <p:sp>
        <p:nvSpPr>
          <p:cNvPr id="16" name="Text 14"/>
          <p:cNvSpPr txBox="1"/>
          <p:nvPr/>
        </p:nvSpPr>
        <p:spPr>
          <a:xfrm>
            <a:off x="7498080" y="2286000"/>
            <a:ext cx="3931920" cy="3749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E4DC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&lt;html data-bs-theme="dark"&gt;</a:t>
            </a:r>
            <a:endParaRPr lang="en-US" sz="1150" dirty="0"/>
          </a:p>
          <a:p>
            <a:pPr indent="0" marL="0">
              <a:lnSpc>
                <a:spcPct val="115000"/>
              </a:lnSpc>
              <a:buNone/>
            </a:pPr>
            <a:endParaRPr lang="en-US" sz="11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E4DC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.btn-quest {</a:t>
            </a:r>
            <a:endParaRPr lang="en-US" sz="11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E4DC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background: var(--bs-primary);</a:t>
            </a:r>
            <a:endParaRPr lang="en-US" sz="11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E4DC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color: var(--bs-body-color);</a:t>
            </a:r>
            <a:endParaRPr lang="en-US" sz="11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E4DC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}</a:t>
            </a:r>
            <a:endParaRPr lang="en-US" sz="1150" dirty="0"/>
          </a:p>
          <a:p>
            <a:pPr indent="0" marL="0">
              <a:lnSpc>
                <a:spcPct val="115000"/>
              </a:lnSpc>
              <a:buNone/>
            </a:pPr>
            <a:endParaRPr lang="en-US" sz="11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E4DC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// Cambiar tema en runtime</a:t>
            </a:r>
            <a:endParaRPr lang="en-US" sz="11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E4DC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document.documentElement</a:t>
            </a:r>
            <a:endParaRPr lang="en-US" sz="11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E4DC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.setAttribute(</a:t>
            </a:r>
            <a:endParaRPr lang="en-US" sz="11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E4DC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"data-bs-theme", "dark"</a:t>
            </a:r>
            <a:endParaRPr lang="en-US" sz="11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E4DC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);</a:t>
            </a:r>
            <a:endParaRPr lang="en-US" sz="1150" dirty="0"/>
          </a:p>
        </p:txBody>
      </p:sp>
      <p:sp>
        <p:nvSpPr>
          <p:cNvPr id="17" name="Text 15"/>
          <p:cNvSpPr txBox="1"/>
          <p:nvPr/>
        </p:nvSpPr>
        <p:spPr>
          <a:xfrm>
            <a:off x="11521440" y="644652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6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07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7F5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6576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7952B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MÁS ALLÁ DEL INFORME</a:t>
            </a:r>
            <a:endParaRPr lang="en-US" sz="13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58368"/>
            <a:ext cx="10515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2415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Utility API y eventos del ciclo de vida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737360"/>
            <a:ext cx="5394960" cy="4434840"/>
          </a:xfrm>
          <a:prstGeom prst="roundRect">
            <a:avLst>
              <a:gd name="adj" fmla="val 2474"/>
            </a:avLst>
          </a:prstGeom>
          <a:solidFill>
            <a:srgbClr val="FFFFFF"/>
          </a:solidFill>
          <a:ln w="12700">
            <a:solidFill>
              <a:srgbClr val="E1D8F0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822960" y="1965960"/>
            <a:ext cx="594360" cy="594360"/>
          </a:xfrm>
          <a:prstGeom prst="roundRect">
            <a:avLst>
              <a:gd name="adj" fmla="val 18462"/>
            </a:avLst>
          </a:prstGeom>
          <a:solidFill>
            <a:srgbClr val="7952B3"/>
          </a:solidFill>
          <a:ln/>
        </p:spPr>
      </p:sp>
      <p:pic>
        <p:nvPicPr>
          <p:cNvPr id="6" name="Image 0" descr="/home/claude/pptx/icon_palette_whit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60120" y="2103120"/>
            <a:ext cx="320040" cy="320040"/>
          </a:xfrm>
          <a:prstGeom prst="rect">
            <a:avLst/>
          </a:prstGeom>
        </p:spPr>
      </p:pic>
      <p:sp>
        <p:nvSpPr>
          <p:cNvPr id="7" name="Text 4"/>
          <p:cNvSpPr txBox="1"/>
          <p:nvPr/>
        </p:nvSpPr>
        <p:spPr>
          <a:xfrm>
            <a:off x="1600200" y="2011680"/>
            <a:ext cx="4114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415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Utility API (Sass)</a:t>
            </a:r>
            <a:endParaRPr lang="en-US" sz="1600" dirty="0"/>
          </a:p>
        </p:txBody>
      </p:sp>
      <p:sp>
        <p:nvSpPr>
          <p:cNvPr id="8" name="Text 5"/>
          <p:cNvSpPr txBox="1"/>
          <p:nvPr/>
        </p:nvSpPr>
        <p:spPr>
          <a:xfrm>
            <a:off x="822960" y="2697480"/>
            <a:ext cx="48463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2415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mapa $utilities permite crear, extender o eliminar clases utilitarias por configuración, en lugar de escribir CSS repetitivo a mano.</a:t>
            </a:r>
            <a:endParaRPr lang="en-US" sz="1250" dirty="0"/>
          </a:p>
        </p:txBody>
      </p:sp>
      <p:sp>
        <p:nvSpPr>
          <p:cNvPr id="9" name="Shape 6"/>
          <p:cNvSpPr/>
          <p:nvPr/>
        </p:nvSpPr>
        <p:spPr>
          <a:xfrm>
            <a:off x="822960" y="3611880"/>
            <a:ext cx="4846320" cy="2331720"/>
          </a:xfrm>
          <a:prstGeom prst="roundRect">
            <a:avLst>
              <a:gd name="adj" fmla="val 3137"/>
            </a:avLst>
          </a:prstGeom>
          <a:solidFill>
            <a:srgbClr val="1B1030"/>
          </a:solidFill>
          <a:ln/>
        </p:spPr>
      </p:sp>
      <p:sp>
        <p:nvSpPr>
          <p:cNvPr id="10" name="Text 7"/>
          <p:cNvSpPr txBox="1"/>
          <p:nvPr/>
        </p:nvSpPr>
        <p:spPr>
          <a:xfrm>
            <a:off x="1005840" y="3794760"/>
            <a:ext cx="448056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E4DC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$utilities: map-merge($utilities, (</a:t>
            </a:r>
            <a:endParaRPr lang="en-US" sz="11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E4DC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"cursor": (</a:t>
            </a:r>
            <a:endParaRPr lang="en-US" sz="11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E4DC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property: cursor,</a:t>
            </a:r>
            <a:endParaRPr lang="en-US" sz="11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E4DC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values: pointer grab not-allowed</a:t>
            </a:r>
            <a:endParaRPr lang="en-US" sz="11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E4DC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)</a:t>
            </a:r>
            <a:endParaRPr lang="en-US" sz="11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E4DC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));</a:t>
            </a:r>
            <a:endParaRPr lang="en-US" sz="11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E4DC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genera: .cursor-pointer, .cursor-grab...</a:t>
            </a:r>
            <a:endParaRPr lang="en-US" sz="1100" dirty="0"/>
          </a:p>
        </p:txBody>
      </p:sp>
      <p:sp>
        <p:nvSpPr>
          <p:cNvPr id="11" name="Shape 8"/>
          <p:cNvSpPr/>
          <p:nvPr/>
        </p:nvSpPr>
        <p:spPr>
          <a:xfrm>
            <a:off x="6172200" y="1737360"/>
            <a:ext cx="5440680" cy="4434840"/>
          </a:xfrm>
          <a:prstGeom prst="roundRect">
            <a:avLst>
              <a:gd name="adj" fmla="val 2474"/>
            </a:avLst>
          </a:prstGeom>
          <a:solidFill>
            <a:srgbClr val="FFFFFF"/>
          </a:solidFill>
          <a:ln w="12700">
            <a:solidFill>
              <a:srgbClr val="E1D8F0"/>
            </a:solidFill>
            <a:prstDash val="solid"/>
          </a:ln>
        </p:spPr>
      </p:sp>
      <p:sp>
        <p:nvSpPr>
          <p:cNvPr id="12" name="Shape 9"/>
          <p:cNvSpPr/>
          <p:nvPr/>
        </p:nvSpPr>
        <p:spPr>
          <a:xfrm>
            <a:off x="6446520" y="1965960"/>
            <a:ext cx="594360" cy="594360"/>
          </a:xfrm>
          <a:prstGeom prst="roundRect">
            <a:avLst>
              <a:gd name="adj" fmla="val 18462"/>
            </a:avLst>
          </a:prstGeom>
          <a:solidFill>
            <a:srgbClr val="7952B3"/>
          </a:solidFill>
          <a:ln/>
        </p:spPr>
      </p:sp>
      <p:pic>
        <p:nvPicPr>
          <p:cNvPr id="13" name="Image 1" descr="/home/claude/pptx/icon_bolt_white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01968" y="2103120"/>
            <a:ext cx="292608" cy="320040"/>
          </a:xfrm>
          <a:prstGeom prst="rect">
            <a:avLst/>
          </a:prstGeom>
        </p:spPr>
      </p:pic>
      <p:sp>
        <p:nvSpPr>
          <p:cNvPr id="14" name="Text 10"/>
          <p:cNvSpPr txBox="1"/>
          <p:nvPr/>
        </p:nvSpPr>
        <p:spPr>
          <a:xfrm>
            <a:off x="7223760" y="2011680"/>
            <a:ext cx="4206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415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Eventos del ciclo de vida</a:t>
            </a:r>
            <a:endParaRPr lang="en-US" sz="1600" dirty="0"/>
          </a:p>
        </p:txBody>
      </p:sp>
      <p:sp>
        <p:nvSpPr>
          <p:cNvPr id="15" name="Text 11"/>
          <p:cNvSpPr txBox="1"/>
          <p:nvPr/>
        </p:nvSpPr>
        <p:spPr>
          <a:xfrm>
            <a:off x="6446520" y="2697480"/>
            <a:ext cx="48463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2415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Cada componente dispara eventos nativos antes y después de cada acción, permitiendo enganchar lógica de negocio sin sondear el DOM.</a:t>
            </a:r>
            <a:endParaRPr lang="en-US" sz="1250" dirty="0"/>
          </a:p>
        </p:txBody>
      </p:sp>
      <p:sp>
        <p:nvSpPr>
          <p:cNvPr id="16" name="Shape 12"/>
          <p:cNvSpPr/>
          <p:nvPr/>
        </p:nvSpPr>
        <p:spPr>
          <a:xfrm>
            <a:off x="6446520" y="3657600"/>
            <a:ext cx="2377440" cy="384048"/>
          </a:xfrm>
          <a:prstGeom prst="roundRect">
            <a:avLst>
              <a:gd name="adj" fmla="val 14286"/>
            </a:avLst>
          </a:prstGeom>
          <a:solidFill>
            <a:srgbClr val="2D1B4E"/>
          </a:solidFill>
          <a:ln/>
        </p:spPr>
      </p:sp>
      <p:sp>
        <p:nvSpPr>
          <p:cNvPr id="17" name="Text 13"/>
          <p:cNvSpPr txBox="1"/>
          <p:nvPr/>
        </p:nvSpPr>
        <p:spPr>
          <a:xfrm>
            <a:off x="6446520" y="3657600"/>
            <a:ext cx="23774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FFB62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show.bs.modal</a:t>
            </a:r>
            <a:endParaRPr lang="en-US" sz="1050" dirty="0"/>
          </a:p>
        </p:txBody>
      </p:sp>
      <p:sp>
        <p:nvSpPr>
          <p:cNvPr id="18" name="Text 14"/>
          <p:cNvSpPr txBox="1"/>
          <p:nvPr/>
        </p:nvSpPr>
        <p:spPr>
          <a:xfrm>
            <a:off x="8961120" y="3657600"/>
            <a:ext cx="19202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B6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antes de mostrarse</a:t>
            </a:r>
            <a:endParaRPr lang="en-US" sz="1100" dirty="0"/>
          </a:p>
        </p:txBody>
      </p:sp>
      <p:sp>
        <p:nvSpPr>
          <p:cNvPr id="19" name="Shape 15"/>
          <p:cNvSpPr/>
          <p:nvPr/>
        </p:nvSpPr>
        <p:spPr>
          <a:xfrm>
            <a:off x="6446520" y="4160520"/>
            <a:ext cx="2377440" cy="384048"/>
          </a:xfrm>
          <a:prstGeom prst="roundRect">
            <a:avLst>
              <a:gd name="adj" fmla="val 14286"/>
            </a:avLst>
          </a:prstGeom>
          <a:solidFill>
            <a:srgbClr val="2D1B4E"/>
          </a:solidFill>
          <a:ln/>
        </p:spPr>
      </p:sp>
      <p:sp>
        <p:nvSpPr>
          <p:cNvPr id="20" name="Text 16"/>
          <p:cNvSpPr txBox="1"/>
          <p:nvPr/>
        </p:nvSpPr>
        <p:spPr>
          <a:xfrm>
            <a:off x="6446520" y="4160520"/>
            <a:ext cx="23774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FFB62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shown.bs.modal</a:t>
            </a:r>
            <a:endParaRPr lang="en-US" sz="1050" dirty="0"/>
          </a:p>
        </p:txBody>
      </p:sp>
      <p:sp>
        <p:nvSpPr>
          <p:cNvPr id="21" name="Text 17"/>
          <p:cNvSpPr txBox="1"/>
          <p:nvPr/>
        </p:nvSpPr>
        <p:spPr>
          <a:xfrm>
            <a:off x="8961120" y="4160520"/>
            <a:ext cx="19202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B6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ya visible</a:t>
            </a:r>
            <a:endParaRPr lang="en-US" sz="1100" dirty="0"/>
          </a:p>
        </p:txBody>
      </p:sp>
      <p:sp>
        <p:nvSpPr>
          <p:cNvPr id="22" name="Shape 18"/>
          <p:cNvSpPr/>
          <p:nvPr/>
        </p:nvSpPr>
        <p:spPr>
          <a:xfrm>
            <a:off x="6446520" y="4663440"/>
            <a:ext cx="2377440" cy="384048"/>
          </a:xfrm>
          <a:prstGeom prst="roundRect">
            <a:avLst>
              <a:gd name="adj" fmla="val 14286"/>
            </a:avLst>
          </a:prstGeom>
          <a:solidFill>
            <a:srgbClr val="2D1B4E"/>
          </a:solidFill>
          <a:ln/>
        </p:spPr>
      </p:sp>
      <p:sp>
        <p:nvSpPr>
          <p:cNvPr id="23" name="Text 19"/>
          <p:cNvSpPr txBox="1"/>
          <p:nvPr/>
        </p:nvSpPr>
        <p:spPr>
          <a:xfrm>
            <a:off x="6446520" y="4663440"/>
            <a:ext cx="23774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FFB62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hide.bs.offcanvas</a:t>
            </a:r>
            <a:endParaRPr lang="en-US" sz="1050" dirty="0"/>
          </a:p>
        </p:txBody>
      </p:sp>
      <p:sp>
        <p:nvSpPr>
          <p:cNvPr id="24" name="Text 20"/>
          <p:cNvSpPr txBox="1"/>
          <p:nvPr/>
        </p:nvSpPr>
        <p:spPr>
          <a:xfrm>
            <a:off x="8961120" y="4663440"/>
            <a:ext cx="19202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B6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antes de ocultarse</a:t>
            </a:r>
            <a:endParaRPr lang="en-US" sz="1100" dirty="0"/>
          </a:p>
        </p:txBody>
      </p:sp>
      <p:sp>
        <p:nvSpPr>
          <p:cNvPr id="25" name="Shape 21"/>
          <p:cNvSpPr/>
          <p:nvPr/>
        </p:nvSpPr>
        <p:spPr>
          <a:xfrm>
            <a:off x="6446520" y="5166360"/>
            <a:ext cx="2377440" cy="384048"/>
          </a:xfrm>
          <a:prstGeom prst="roundRect">
            <a:avLst>
              <a:gd name="adj" fmla="val 14286"/>
            </a:avLst>
          </a:prstGeom>
          <a:solidFill>
            <a:srgbClr val="2D1B4E"/>
          </a:solidFill>
          <a:ln/>
        </p:spPr>
      </p:sp>
      <p:sp>
        <p:nvSpPr>
          <p:cNvPr id="26" name="Text 22"/>
          <p:cNvSpPr txBox="1"/>
          <p:nvPr/>
        </p:nvSpPr>
        <p:spPr>
          <a:xfrm>
            <a:off x="6446520" y="5166360"/>
            <a:ext cx="23774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FFB62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hidden.bs.collapse</a:t>
            </a:r>
            <a:endParaRPr lang="en-US" sz="1050" dirty="0"/>
          </a:p>
        </p:txBody>
      </p:sp>
      <p:sp>
        <p:nvSpPr>
          <p:cNvPr id="27" name="Text 23"/>
          <p:cNvSpPr txBox="1"/>
          <p:nvPr/>
        </p:nvSpPr>
        <p:spPr>
          <a:xfrm>
            <a:off x="8961120" y="5166360"/>
            <a:ext cx="19202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B6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transición terminada</a:t>
            </a:r>
            <a:endParaRPr lang="en-US" sz="1100" dirty="0"/>
          </a:p>
        </p:txBody>
      </p:sp>
      <p:sp>
        <p:nvSpPr>
          <p:cNvPr id="28" name="Text 24"/>
          <p:cNvSpPr txBox="1"/>
          <p:nvPr/>
        </p:nvSpPr>
        <p:spPr>
          <a:xfrm>
            <a:off x="11521440" y="644652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6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08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2D1B4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601200" y="4389120"/>
            <a:ext cx="4572000" cy="4572000"/>
          </a:xfrm>
          <a:prstGeom prst="ellipse">
            <a:avLst/>
          </a:prstGeom>
          <a:solidFill>
            <a:srgbClr val="7952B3">
              <a:alpha val="18000"/>
            </a:srgbClr>
          </a:solidFill>
          <a:ln/>
        </p:spPr>
      </p:sp>
      <p:pic>
        <p:nvPicPr>
          <p:cNvPr id="3" name="Image 0" descr="/home/claude/pptx/icon_rocket_amber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40080" y="685800"/>
            <a:ext cx="548640" cy="548640"/>
          </a:xfrm>
          <a:prstGeom prst="rect">
            <a:avLst/>
          </a:prstGeom>
        </p:spPr>
      </p:pic>
      <p:sp>
        <p:nvSpPr>
          <p:cNvPr id="4" name="Text 1"/>
          <p:cNvSpPr txBox="1"/>
          <p:nvPr/>
        </p:nvSpPr>
        <p:spPr>
          <a:xfrm>
            <a:off x="1280160" y="777240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FFB6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CONCLUSIÓN</a:t>
            </a:r>
            <a:endParaRPr lang="en-US" sz="1300" dirty="0"/>
          </a:p>
        </p:txBody>
      </p:sp>
      <p:sp>
        <p:nvSpPr>
          <p:cNvPr id="5" name="Text 2"/>
          <p:cNvSpPr txBox="1"/>
          <p:nvPr/>
        </p:nvSpPr>
        <p:spPr>
          <a:xfrm>
            <a:off x="640080" y="1463040"/>
            <a:ext cx="98755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El núcleo invisible reduce el tiempo de desarrollo</a:t>
            </a:r>
            <a:endParaRPr lang="en-US" sz="3000" dirty="0"/>
          </a:p>
        </p:txBody>
      </p:sp>
      <p:sp>
        <p:nvSpPr>
          <p:cNvPr id="6" name="Text 3"/>
          <p:cNvSpPr txBox="1"/>
          <p:nvPr/>
        </p:nvSpPr>
        <p:spPr>
          <a:xfrm>
            <a:off x="640080" y="2514600"/>
            <a:ext cx="758952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500" dirty="0">
                <a:solidFill>
                  <a:srgbClr val="D9D3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 asumir las matemáticas del diseño responsivo, la compatibilidad entre navegadores y el control de estados de la interfaz, Bootstrap permite concentrarse en la lógica de negocio del lado del servidor y del cliente.</a:t>
            </a:r>
            <a:endParaRPr lang="en-US" sz="1500" dirty="0"/>
          </a:p>
        </p:txBody>
      </p:sp>
      <p:sp>
        <p:nvSpPr>
          <p:cNvPr id="7" name="Text 4"/>
          <p:cNvSpPr txBox="1"/>
          <p:nvPr/>
        </p:nvSpPr>
        <p:spPr>
          <a:xfrm>
            <a:off x="640080" y="4114800"/>
            <a:ext cx="23774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600" b="1" dirty="0">
                <a:solidFill>
                  <a:srgbClr val="FFB62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12</a:t>
            </a:r>
            <a:endParaRPr lang="en-US" sz="4600" dirty="0"/>
          </a:p>
        </p:txBody>
      </p:sp>
      <p:sp>
        <p:nvSpPr>
          <p:cNvPr id="8" name="Text 5"/>
          <p:cNvSpPr txBox="1"/>
          <p:nvPr/>
        </p:nvSpPr>
        <p:spPr>
          <a:xfrm>
            <a:off x="640080" y="4937760"/>
            <a:ext cx="23774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D9D3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columnas lógicas en el grid</a:t>
            </a:r>
            <a:endParaRPr lang="en-US" sz="1200" dirty="0"/>
          </a:p>
        </p:txBody>
      </p:sp>
      <p:sp>
        <p:nvSpPr>
          <p:cNvPr id="9" name="Text 6"/>
          <p:cNvSpPr txBox="1"/>
          <p:nvPr/>
        </p:nvSpPr>
        <p:spPr>
          <a:xfrm>
            <a:off x="3246120" y="4114800"/>
            <a:ext cx="23774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600" b="1" dirty="0">
                <a:solidFill>
                  <a:srgbClr val="FFB62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4600" dirty="0"/>
          </a:p>
        </p:txBody>
      </p:sp>
      <p:sp>
        <p:nvSpPr>
          <p:cNvPr id="10" name="Text 7"/>
          <p:cNvSpPr txBox="1"/>
          <p:nvPr/>
        </p:nvSpPr>
        <p:spPr>
          <a:xfrm>
            <a:off x="3246120" y="4937760"/>
            <a:ext cx="23774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D9D3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pilares funcionales cubiertos</a:t>
            </a:r>
            <a:endParaRPr lang="en-US" sz="1200" dirty="0"/>
          </a:p>
        </p:txBody>
      </p:sp>
      <p:sp>
        <p:nvSpPr>
          <p:cNvPr id="11" name="Text 8"/>
          <p:cNvSpPr txBox="1"/>
          <p:nvPr/>
        </p:nvSpPr>
        <p:spPr>
          <a:xfrm>
            <a:off x="5852160" y="4114800"/>
            <a:ext cx="23774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600" b="1" dirty="0">
                <a:solidFill>
                  <a:srgbClr val="FFB62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</a:t>
            </a:r>
            <a:endParaRPr lang="en-US" sz="4600" dirty="0"/>
          </a:p>
        </p:txBody>
      </p:sp>
      <p:sp>
        <p:nvSpPr>
          <p:cNvPr id="12" name="Text 9"/>
          <p:cNvSpPr txBox="1"/>
          <p:nvPr/>
        </p:nvSpPr>
        <p:spPr>
          <a:xfrm>
            <a:off x="5852160" y="4937760"/>
            <a:ext cx="23774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D9D3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dependencia de jQuery desde v5</a:t>
            </a:r>
            <a:endParaRPr lang="en-US" sz="1200" dirty="0"/>
          </a:p>
        </p:txBody>
      </p:sp>
      <p:sp>
        <p:nvSpPr>
          <p:cNvPr id="13" name="Text 10"/>
          <p:cNvSpPr txBox="1"/>
          <p:nvPr/>
        </p:nvSpPr>
        <p:spPr>
          <a:xfrm>
            <a:off x="11521440" y="644652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6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09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9</Slides>
  <Notes>9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2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2026-08-26T02:23:29Z</dcterms:created>
  <dcterms:modified xsi:type="dcterms:W3CDTF">2026-08-26T02:23:29Z</dcterms:modified>
</cp:coreProperties>
</file>